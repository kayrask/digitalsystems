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</p:sldIdLst>
  <p:sldSz cx="12801600" cy="96012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4587E0C-A909-4B33-AAEC-C8FE2898D1D6}" v="2" dt="2021-09-27T10:48:11.3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92" autoAdjust="0"/>
    <p:restoredTop sz="94660"/>
  </p:normalViewPr>
  <p:slideViewPr>
    <p:cSldViewPr snapToGrid="0">
      <p:cViewPr>
        <p:scale>
          <a:sx n="148" d="100"/>
          <a:sy n="148" d="100"/>
        </p:scale>
        <p:origin x="-952" y="-37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60120" y="1571308"/>
            <a:ext cx="1088136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00200" y="5042853"/>
            <a:ext cx="96012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176437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9310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3443" y="2393635"/>
            <a:ext cx="1104138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73443" y="6425250"/>
            <a:ext cx="1104138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/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969457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801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80810" y="2555875"/>
            <a:ext cx="5440680" cy="609187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285247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7" y="511177"/>
            <a:ext cx="11041380" cy="185578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779" y="2353628"/>
            <a:ext cx="5415676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81779" y="3507105"/>
            <a:ext cx="5415676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80811" y="2353628"/>
            <a:ext cx="5442347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80811" y="3507105"/>
            <a:ext cx="5442347" cy="515842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85807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47190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5076560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42347" y="1382397"/>
            <a:ext cx="648081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6606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81778" y="640080"/>
            <a:ext cx="4128849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42347" y="1382397"/>
            <a:ext cx="648081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81778" y="2880360"/>
            <a:ext cx="4128849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63872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387469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61146" y="511175"/>
            <a:ext cx="2760345" cy="8136573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80111" y="511175"/>
            <a:ext cx="8121015" cy="8136573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83652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80110" y="511177"/>
            <a:ext cx="1104138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0110" y="2555875"/>
            <a:ext cx="1104138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8011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09615FF-C1AD-4C39-96B2-5B4D7F33D7E0}" type="datetimeFigureOut">
              <a:rPr lang="en-GB" smtClean="0"/>
              <a:t>27/01/2026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240530" y="8898892"/>
            <a:ext cx="432054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041130" y="8898892"/>
            <a:ext cx="288036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29470E-1902-4A04-B057-E0026683137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525332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1280160" rtl="0" eaLnBrk="1" latinLnBrk="0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0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0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0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jpeg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Picture 26">
            <a:extLst>
              <a:ext uri="{FF2B5EF4-FFF2-40B4-BE49-F238E27FC236}">
                <a16:creationId xmlns:a16="http://schemas.microsoft.com/office/drawing/2014/main" id="{B2867221-4337-2BC1-BC25-1291640D56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49" t="653" r="15502" b="29926"/>
          <a:stretch/>
        </p:blipFill>
        <p:spPr>
          <a:xfrm>
            <a:off x="4227228" y="5910796"/>
            <a:ext cx="2933543" cy="1875541"/>
          </a:xfrm>
          <a:prstGeom prst="rect">
            <a:avLst/>
          </a:prstGeom>
          <a:noFill/>
          <a:ln>
            <a:noFill/>
          </a:ln>
          <a:effectLst>
            <a:outerShdw blurRad="50800" dist="50800" dir="5400000" algn="ctr" rotWithShape="0">
              <a:schemeClr val="bg1"/>
            </a:outerShdw>
            <a:softEdge rad="0"/>
          </a:effectLst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99E6B48F-1A4D-9283-5832-B297264BDF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6356" y="1647966"/>
            <a:ext cx="4053575" cy="3031963"/>
          </a:xfrm>
          <a:prstGeom prst="rect">
            <a:avLst/>
          </a:prstGeom>
        </p:spPr>
      </p:pic>
      <p:pic>
        <p:nvPicPr>
          <p:cNvPr id="3" name="Picture 2" descr="A screenshot of a diagram&#10;&#10;Description automatically generated">
            <a:extLst>
              <a:ext uri="{FF2B5EF4-FFF2-40B4-BE49-F238E27FC236}">
                <a16:creationId xmlns:a16="http://schemas.microsoft.com/office/drawing/2014/main" id="{D1AB6EF6-32E0-3EFC-AFBE-E480B282219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150"/>
          <a:stretch/>
        </p:blipFill>
        <p:spPr>
          <a:xfrm>
            <a:off x="4277478" y="4617453"/>
            <a:ext cx="4359486" cy="108734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2F3DE40-F1B5-4977-85B9-1AECC389B896}"/>
              </a:ext>
            </a:extLst>
          </p:cNvPr>
          <p:cNvSpPr txBox="1"/>
          <p:nvPr/>
        </p:nvSpPr>
        <p:spPr>
          <a:xfrm>
            <a:off x="1877264" y="64083"/>
            <a:ext cx="4457960" cy="3785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860" dirty="0"/>
              <a:t>UFCFXK-30-3: Digital Systems Project</a:t>
            </a:r>
          </a:p>
        </p:txBody>
      </p:sp>
      <p:pic>
        <p:nvPicPr>
          <p:cNvPr id="8" name="Picture 6" descr="Welcome to UWE Bristol - University of the West of England ...">
            <a:extLst>
              <a:ext uri="{FF2B5EF4-FFF2-40B4-BE49-F238E27FC236}">
                <a16:creationId xmlns:a16="http://schemas.microsoft.com/office/drawing/2014/main" id="{AEE2C9CD-77BB-42E5-B50C-E5AFA99CC1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587" y="71489"/>
            <a:ext cx="1836678" cy="918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B0246FA-7BB3-460A-BC34-659DB14AA1A0}"/>
              </a:ext>
            </a:extLst>
          </p:cNvPr>
          <p:cNvSpPr txBox="1"/>
          <p:nvPr/>
        </p:nvSpPr>
        <p:spPr>
          <a:xfrm>
            <a:off x="1883083" y="313399"/>
            <a:ext cx="8382266" cy="7755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480" dirty="0"/>
              <a:t>Student name: Hasan Kayra </a:t>
            </a:r>
            <a:r>
              <a:rPr lang="en-GB" sz="1480" dirty="0" err="1"/>
              <a:t>Sik</a:t>
            </a:r>
            <a:endParaRPr lang="en-GB" sz="1480" dirty="0"/>
          </a:p>
          <a:p>
            <a:r>
              <a:rPr lang="en-GB" sz="1480" dirty="0"/>
              <a:t>Project Title: </a:t>
            </a:r>
            <a:r>
              <a:rPr lang="en-GB" sz="1480" dirty="0">
                <a:ea typeface="Times New Roman" panose="02020603050405020304" pitchFamily="18" charset="0"/>
                <a:cs typeface="Times New Roman" panose="02020603050405020304" pitchFamily="18" charset="0"/>
              </a:rPr>
              <a:t>Intelligent Dermatological Care: Artificial Intelligence-Driven Assessment and Prediction for Tailored Natural Formulations</a:t>
            </a:r>
            <a:r>
              <a:rPr lang="en-GB" sz="1480" dirty="0"/>
              <a:t> </a:t>
            </a:r>
          </a:p>
        </p:txBody>
      </p:sp>
      <p:sp>
        <p:nvSpPr>
          <p:cNvPr id="10" name="Title 1">
            <a:extLst>
              <a:ext uri="{FF2B5EF4-FFF2-40B4-BE49-F238E27FC236}">
                <a16:creationId xmlns:a16="http://schemas.microsoft.com/office/drawing/2014/main" id="{69BA5F24-787C-44AE-908F-B619A20C120C}"/>
              </a:ext>
            </a:extLst>
          </p:cNvPr>
          <p:cNvSpPr txBox="1">
            <a:spLocks/>
          </p:cNvSpPr>
          <p:nvPr/>
        </p:nvSpPr>
        <p:spPr>
          <a:xfrm>
            <a:off x="185980" y="1208757"/>
            <a:ext cx="4046007" cy="1399846"/>
          </a:xfrm>
          <a:prstGeom prst="rect">
            <a:avLst/>
          </a:prstGeom>
        </p:spPr>
        <p:txBody>
          <a:bodyPr vert="horz" lIns="38665" tIns="19332" rIns="38665" bIns="19332" rtlCol="0" anchor="t">
            <a:no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268" b="1" dirty="0">
                <a:latin typeface="+mn-lt"/>
              </a:rPr>
              <a:t>Abstract:</a:t>
            </a:r>
          </a:p>
          <a:p>
            <a:pPr algn="l"/>
            <a:endParaRPr lang="en-GB" sz="1050" dirty="0"/>
          </a:p>
          <a:p>
            <a:pPr algn="l"/>
            <a:r>
              <a:rPr lang="en-GB" sz="1050" i="0" dirty="0">
                <a:solidFill>
                  <a:srgbClr val="000000"/>
                </a:solidFill>
                <a:effectLst/>
              </a:rPr>
              <a:t>Current dermatological AI fails to capture real-world complexity because it relies on single-label classification, effectively ignoring that conditions like acne and redness often occur simultaneously</a:t>
            </a:r>
            <a:r>
              <a:rPr lang="en-GB" sz="1050" dirty="0">
                <a:solidFill>
                  <a:srgbClr val="172B4D"/>
                </a:solidFill>
              </a:rPr>
              <a:t>. Our system employs a multi-label </a:t>
            </a:r>
            <a:r>
              <a:rPr lang="en-GB" sz="1050" dirty="0"/>
              <a:t>Convolutional neural network (</a:t>
            </a:r>
            <a:r>
              <a:rPr lang="en-GB" sz="1050" dirty="0">
                <a:solidFill>
                  <a:srgbClr val="172B4D"/>
                </a:solidFill>
              </a:rPr>
              <a:t>CNN) to detect co-occurring skin conditions from facial images. The system utilises these predictions together with </a:t>
            </a:r>
            <a:r>
              <a:rPr lang="en-GB" sz="1050" dirty="0" err="1">
                <a:solidFill>
                  <a:srgbClr val="172B4D"/>
                </a:solidFill>
              </a:rPr>
              <a:t>explainability</a:t>
            </a:r>
            <a:r>
              <a:rPr lang="en-GB" sz="1050" dirty="0">
                <a:solidFill>
                  <a:srgbClr val="172B4D"/>
                </a:solidFill>
              </a:rPr>
              <a:t> tools to give customised non-diagnostic skincare advice.</a:t>
            </a:r>
            <a:endParaRPr lang="en-GB" sz="1050" dirty="0">
              <a:cs typeface="Calibri" panose="020F0502020204030204" pitchFamily="34" charset="0"/>
            </a:endParaRPr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8DC5D838-27F2-4B38-925B-C678D65557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3749" y="5071933"/>
            <a:ext cx="3569735" cy="213357"/>
          </a:xfrm>
        </p:spPr>
        <p:txBody>
          <a:bodyPr anchor="t">
            <a:noAutofit/>
          </a:bodyPr>
          <a:lstStyle/>
          <a:p>
            <a:pPr algn="l"/>
            <a:r>
              <a:rPr lang="en-GB" sz="1268" b="1" dirty="0">
                <a:latin typeface="+mn-lt"/>
              </a:rPr>
              <a:t>Research:</a:t>
            </a:r>
            <a:br>
              <a:rPr lang="en-GB" sz="1268" b="1" dirty="0">
                <a:latin typeface="+mn-lt"/>
              </a:rPr>
            </a:br>
            <a:br>
              <a:rPr lang="en-GB" sz="1268" b="1" dirty="0">
                <a:latin typeface="+mn-lt"/>
              </a:rPr>
            </a:br>
            <a:br>
              <a:rPr lang="en-GB" sz="1268" b="1" dirty="0">
                <a:latin typeface="+mn-lt"/>
              </a:rPr>
            </a:br>
            <a:br>
              <a:rPr lang="en-GB" sz="888" dirty="0"/>
            </a:br>
            <a:endParaRPr lang="en-GB" sz="888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0EB231AF-9096-4646-81B1-3F5BBFA44D34}"/>
              </a:ext>
            </a:extLst>
          </p:cNvPr>
          <p:cNvSpPr txBox="1">
            <a:spLocks/>
          </p:cNvSpPr>
          <p:nvPr/>
        </p:nvSpPr>
        <p:spPr>
          <a:xfrm>
            <a:off x="173734" y="2663372"/>
            <a:ext cx="4047037" cy="2307504"/>
          </a:xfrm>
          <a:prstGeom prst="rect">
            <a:avLst/>
          </a:prstGeom>
        </p:spPr>
        <p:txBody>
          <a:bodyPr vert="horz" lIns="38665" tIns="19332" rIns="38665" bIns="19332" rtlCol="0" anchor="t">
            <a:no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268" b="1" dirty="0">
                <a:latin typeface="+mn-lt"/>
              </a:rPr>
              <a:t>Aims and objectives:</a:t>
            </a:r>
          </a:p>
          <a:p>
            <a:pPr algn="l"/>
            <a:endParaRPr lang="en-GB" sz="931" dirty="0"/>
          </a:p>
          <a:p>
            <a:pPr algn="l"/>
            <a:r>
              <a:rPr lang="en-GB" sz="1050" dirty="0"/>
              <a:t>To develop and evaluate a multi-label deep learning system to analyse skin images, supporting non-diagnostic consumer-oriented skincare recommendations, while considering </a:t>
            </a:r>
            <a:r>
              <a:rPr lang="en-GB" sz="1050" dirty="0" err="1"/>
              <a:t>explainability</a:t>
            </a:r>
            <a:r>
              <a:rPr lang="en-GB" sz="1050" dirty="0"/>
              <a:t>, bias and ethical deployment decisions.</a:t>
            </a:r>
          </a:p>
          <a:p>
            <a:pPr algn="l"/>
            <a:endParaRPr lang="en-GB" sz="1050" i="1" dirty="0"/>
          </a:p>
          <a:p>
            <a:pPr algn="l"/>
            <a:r>
              <a:rPr lang="en-GB" sz="1050" b="1" i="1" dirty="0"/>
              <a:t>The project objectives are:</a:t>
            </a:r>
          </a:p>
          <a:p>
            <a:pPr algn="l"/>
            <a:endParaRPr lang="en-GB" sz="1050" b="1" dirty="0"/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Develop a CNN capable of multi-label skin condition classification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Assess multi-label learning to model correlated skin attributes in comparison with single label-based approaches.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Apply </a:t>
            </a:r>
            <a:r>
              <a:rPr lang="en-GB" sz="1050" dirty="0" err="1"/>
              <a:t>explainability</a:t>
            </a:r>
            <a:r>
              <a:rPr lang="en-GB" sz="1050" dirty="0"/>
              <a:t> methods to help users’ understanding.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Incorporate model outputs into a non-diagnostic, personalised skincare recommendation system.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Evaluate dataset bias, fairness and generalizability.</a:t>
            </a:r>
          </a:p>
          <a:p>
            <a:pPr algn="l"/>
            <a:endParaRPr lang="en-GB" sz="931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2139A99-734D-492D-A2B4-ABC6F3A46758}"/>
              </a:ext>
            </a:extLst>
          </p:cNvPr>
          <p:cNvSpPr txBox="1"/>
          <p:nvPr/>
        </p:nvSpPr>
        <p:spPr>
          <a:xfrm>
            <a:off x="4256833" y="1208757"/>
            <a:ext cx="2198615" cy="28745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68" b="1" spc="-64" dirty="0"/>
              <a:t>Design, Implementation &amp; Testing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9F5ED70B-CEA5-47FA-AEAC-03AF27505209}"/>
              </a:ext>
            </a:extLst>
          </p:cNvPr>
          <p:cNvSpPr txBox="1"/>
          <p:nvPr/>
        </p:nvSpPr>
        <p:spPr>
          <a:xfrm>
            <a:off x="4263758" y="1436692"/>
            <a:ext cx="1150388" cy="2745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184" i="1" spc="-64" dirty="0"/>
              <a:t>State Diagram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031F712-8648-4AFF-9A6D-FCBF70730BEB}"/>
              </a:ext>
            </a:extLst>
          </p:cNvPr>
          <p:cNvSpPr txBox="1"/>
          <p:nvPr/>
        </p:nvSpPr>
        <p:spPr>
          <a:xfrm>
            <a:off x="4258397" y="5674765"/>
            <a:ext cx="1792478" cy="2745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84" i="1" dirty="0"/>
              <a:t>Implementation artefacts </a:t>
            </a:r>
          </a:p>
        </p:txBody>
      </p:sp>
      <p:sp>
        <p:nvSpPr>
          <p:cNvPr id="19" name="Title 1">
            <a:extLst>
              <a:ext uri="{FF2B5EF4-FFF2-40B4-BE49-F238E27FC236}">
                <a16:creationId xmlns:a16="http://schemas.microsoft.com/office/drawing/2014/main" id="{5B50A179-7B9A-4987-A17A-B2BA2FD57E22}"/>
              </a:ext>
            </a:extLst>
          </p:cNvPr>
          <p:cNvSpPr txBox="1">
            <a:spLocks/>
          </p:cNvSpPr>
          <p:nvPr/>
        </p:nvSpPr>
        <p:spPr>
          <a:xfrm>
            <a:off x="8625832" y="6008877"/>
            <a:ext cx="4254934" cy="1811389"/>
          </a:xfrm>
          <a:prstGeom prst="rect">
            <a:avLst/>
          </a:prstGeom>
        </p:spPr>
        <p:txBody>
          <a:bodyPr vert="horz" lIns="38665" tIns="19332" rIns="38665" bIns="19332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268" b="1" dirty="0">
                <a:latin typeface="+mn-lt"/>
              </a:rPr>
              <a:t>Planning and Management: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The project follows an iterative development approach, with cycles of implementation and evaluation.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Completed stages include literature review, dataset preparation, and initial model development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Ongoing work includes model evaluation, refinement, and fairness analysis.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Important risks like dataset bias, overfitting, and ethical issues have been found and are being dealt with.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/>
              <a:t>Progress is tracked against a planned timeline to ensure delivery within project constraints.</a:t>
            </a:r>
          </a:p>
        </p:txBody>
      </p:sp>
      <p:sp>
        <p:nvSpPr>
          <p:cNvPr id="20" name="Title 1">
            <a:extLst>
              <a:ext uri="{FF2B5EF4-FFF2-40B4-BE49-F238E27FC236}">
                <a16:creationId xmlns:a16="http://schemas.microsoft.com/office/drawing/2014/main" id="{D8D1FE95-39F4-4D38-B2EF-53232BFBC6D7}"/>
              </a:ext>
            </a:extLst>
          </p:cNvPr>
          <p:cNvSpPr txBox="1">
            <a:spLocks/>
          </p:cNvSpPr>
          <p:nvPr/>
        </p:nvSpPr>
        <p:spPr>
          <a:xfrm>
            <a:off x="8685403" y="7731313"/>
            <a:ext cx="4062338" cy="1811388"/>
          </a:xfrm>
          <a:prstGeom prst="rect">
            <a:avLst/>
          </a:prstGeom>
        </p:spPr>
        <p:txBody>
          <a:bodyPr vert="horz" lIns="38665" tIns="19332" rIns="38665" bIns="19332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GB" sz="1353" b="1" spc="-64" dirty="0">
                <a:latin typeface="+mn-lt"/>
              </a:rPr>
              <a:t>References:</a:t>
            </a:r>
            <a:br>
              <a:rPr lang="en-GB" sz="592" spc="-64" dirty="0"/>
            </a:br>
            <a:r>
              <a:rPr lang="en-GB" sz="800" b="1" spc="-64" dirty="0" err="1"/>
              <a:t>Esteva</a:t>
            </a:r>
            <a:r>
              <a:rPr lang="en-GB" sz="800" b="1" spc="-64" dirty="0"/>
              <a:t>, A., </a:t>
            </a:r>
            <a:r>
              <a:rPr lang="en-GB" sz="800" b="1" spc="-64" dirty="0" err="1"/>
              <a:t>Kuprel</a:t>
            </a:r>
            <a:r>
              <a:rPr lang="en-GB" sz="800" b="1" spc="-64" dirty="0"/>
              <a:t>, B., </a:t>
            </a:r>
            <a:r>
              <a:rPr lang="en-GB" sz="800" b="1" spc="-64" dirty="0" err="1"/>
              <a:t>Novoa</a:t>
            </a:r>
            <a:r>
              <a:rPr lang="en-GB" sz="800" b="1" spc="-64" dirty="0"/>
              <a:t>, R.A., Ko, J., </a:t>
            </a:r>
            <a:r>
              <a:rPr lang="en-GB" sz="800" b="1" spc="-64" dirty="0" err="1"/>
              <a:t>Swetter</a:t>
            </a:r>
            <a:r>
              <a:rPr lang="en-GB" sz="800" b="1" spc="-64" dirty="0"/>
              <a:t>, S.M., </a:t>
            </a:r>
            <a:r>
              <a:rPr lang="en-GB" sz="800" b="1" spc="-64" dirty="0" err="1"/>
              <a:t>Blau</a:t>
            </a:r>
            <a:r>
              <a:rPr lang="en-GB" sz="800" b="1" spc="-64" dirty="0"/>
              <a:t>, H.M. and </a:t>
            </a:r>
            <a:r>
              <a:rPr lang="en-GB" sz="800" b="1" spc="-64" dirty="0" err="1"/>
              <a:t>Thrun</a:t>
            </a:r>
            <a:r>
              <a:rPr lang="en-GB" sz="800" b="1" spc="-64" dirty="0"/>
              <a:t>, S. (2017)</a:t>
            </a:r>
            <a:endParaRPr lang="en-GB" sz="800" spc="-64" dirty="0"/>
          </a:p>
          <a:p>
            <a:pPr algn="l"/>
            <a:r>
              <a:rPr lang="en-GB" sz="800" spc="-64" dirty="0"/>
              <a:t>Dermatologist-level classification of skin cancer with deep neural networks. </a:t>
            </a:r>
            <a:r>
              <a:rPr lang="en-GB" sz="800" i="1" spc="-64" dirty="0"/>
              <a:t>Nature</a:t>
            </a:r>
            <a:r>
              <a:rPr lang="en-GB" sz="800" spc="-64" dirty="0"/>
              <a:t>, 542(7639), pp.115–118.</a:t>
            </a:r>
          </a:p>
          <a:p>
            <a:pPr algn="l"/>
            <a:r>
              <a:rPr lang="en-GB" sz="800" spc="-64" dirty="0"/>
              <a:t>https://</a:t>
            </a:r>
            <a:r>
              <a:rPr lang="en-GB" sz="800" spc="-64" dirty="0" err="1"/>
              <a:t>doi.org</a:t>
            </a:r>
            <a:r>
              <a:rPr lang="en-GB" sz="800" spc="-64" dirty="0"/>
              <a:t>/10.1038/nature21056</a:t>
            </a:r>
          </a:p>
          <a:p>
            <a:pPr algn="l"/>
            <a:r>
              <a:rPr lang="en-GB" sz="800" b="1" spc="-64" dirty="0"/>
              <a:t>Brinker, T.J., </a:t>
            </a:r>
            <a:r>
              <a:rPr lang="en-GB" sz="800" b="1" spc="-64" dirty="0" err="1"/>
              <a:t>Hekler</a:t>
            </a:r>
            <a:r>
              <a:rPr lang="en-GB" sz="800" b="1" spc="-64" dirty="0"/>
              <a:t>, A., </a:t>
            </a:r>
            <a:r>
              <a:rPr lang="en-GB" sz="800" b="1" spc="-64" dirty="0" err="1"/>
              <a:t>Enk</a:t>
            </a:r>
            <a:r>
              <a:rPr lang="en-GB" sz="800" b="1" spc="-64" dirty="0"/>
              <a:t>, A.H., </a:t>
            </a:r>
            <a:r>
              <a:rPr lang="en-GB" sz="800" b="1" spc="-64" dirty="0" err="1"/>
              <a:t>Klode</a:t>
            </a:r>
            <a:r>
              <a:rPr lang="en-GB" sz="800" b="1" spc="-64" dirty="0"/>
              <a:t>, J., </a:t>
            </a:r>
            <a:r>
              <a:rPr lang="en-GB" sz="800" b="1" spc="-64" dirty="0" err="1"/>
              <a:t>Hauschild</a:t>
            </a:r>
            <a:r>
              <a:rPr lang="en-GB" sz="800" b="1" spc="-64" dirty="0"/>
              <a:t>, A., </a:t>
            </a:r>
            <a:r>
              <a:rPr lang="en-GB" sz="800" b="1" spc="-64" dirty="0" err="1"/>
              <a:t>Berking</a:t>
            </a:r>
            <a:r>
              <a:rPr lang="en-GB" sz="800" b="1" spc="-64" dirty="0"/>
              <a:t>, C., Schilling, B., </a:t>
            </a:r>
            <a:r>
              <a:rPr lang="en-GB" sz="800" b="1" spc="-64" dirty="0" err="1"/>
              <a:t>Haferkamp</a:t>
            </a:r>
            <a:r>
              <a:rPr lang="en-GB" sz="800" b="1" spc="-64" dirty="0"/>
              <a:t>, S., </a:t>
            </a:r>
            <a:r>
              <a:rPr lang="en-GB" sz="800" b="1" spc="-64" dirty="0" err="1"/>
              <a:t>Schadendorf</a:t>
            </a:r>
            <a:r>
              <a:rPr lang="en-GB" sz="800" b="1" spc="-64" dirty="0"/>
              <a:t>, D. and von </a:t>
            </a:r>
            <a:r>
              <a:rPr lang="en-GB" sz="800" b="1" spc="-64" dirty="0" err="1"/>
              <a:t>Kalle</a:t>
            </a:r>
            <a:r>
              <a:rPr lang="en-GB" sz="800" b="1" spc="-64" dirty="0"/>
              <a:t>, C. (2019)</a:t>
            </a:r>
            <a:endParaRPr lang="en-GB" sz="800" spc="-64" dirty="0"/>
          </a:p>
          <a:p>
            <a:pPr algn="l"/>
            <a:r>
              <a:rPr lang="en-GB" sz="800" spc="-64" dirty="0"/>
              <a:t>Deep learning outperformed 136 dermatologists in melanoma image classification. </a:t>
            </a:r>
            <a:r>
              <a:rPr lang="en-GB" sz="800" i="1" spc="-64" dirty="0"/>
              <a:t>European Journal of Cancer</a:t>
            </a:r>
            <a:r>
              <a:rPr lang="en-GB" sz="800" spc="-64" dirty="0"/>
              <a:t>, 113, pp.47–54.</a:t>
            </a:r>
          </a:p>
          <a:p>
            <a:pPr algn="l"/>
            <a:r>
              <a:rPr lang="en-GB" sz="800" spc="-64" dirty="0"/>
              <a:t>https://</a:t>
            </a:r>
            <a:r>
              <a:rPr lang="en-GB" sz="800" spc="-64" dirty="0" err="1"/>
              <a:t>doi.org</a:t>
            </a:r>
            <a:r>
              <a:rPr lang="en-GB" sz="800" spc="-64" dirty="0"/>
              <a:t>/10.1016/j.ejca.2019.04.001</a:t>
            </a:r>
          </a:p>
          <a:p>
            <a:pPr algn="l"/>
            <a:r>
              <a:rPr lang="en-GB" sz="800" b="1" spc="-64" dirty="0" err="1"/>
              <a:t>Tsoumakas</a:t>
            </a:r>
            <a:r>
              <a:rPr lang="en-GB" sz="800" b="1" spc="-64" dirty="0"/>
              <a:t>, G. and </a:t>
            </a:r>
            <a:r>
              <a:rPr lang="en-GB" sz="800" b="1" spc="-64" dirty="0" err="1"/>
              <a:t>Katakis</a:t>
            </a:r>
            <a:r>
              <a:rPr lang="en-GB" sz="800" b="1" spc="-64" dirty="0"/>
              <a:t>, I. (2007)</a:t>
            </a:r>
            <a:endParaRPr lang="en-GB" sz="800" spc="-64" dirty="0"/>
          </a:p>
          <a:p>
            <a:pPr algn="l"/>
            <a:r>
              <a:rPr lang="en-GB" sz="800" spc="-64" dirty="0"/>
              <a:t>Multi-label classification: An overview. </a:t>
            </a:r>
            <a:r>
              <a:rPr lang="en-GB" sz="800" i="1" spc="-64" dirty="0"/>
              <a:t>International Journal of Data Warehousing and Mining</a:t>
            </a:r>
            <a:r>
              <a:rPr lang="en-GB" sz="800" spc="-64" dirty="0"/>
              <a:t>, 3(3), pp.1–13.</a:t>
            </a:r>
          </a:p>
          <a:p>
            <a:pPr algn="l"/>
            <a:r>
              <a:rPr lang="en-GB" sz="800" spc="-64" dirty="0"/>
              <a:t>https://</a:t>
            </a:r>
            <a:r>
              <a:rPr lang="en-GB" sz="800" spc="-64" dirty="0" err="1"/>
              <a:t>doi.org</a:t>
            </a:r>
            <a:r>
              <a:rPr lang="en-GB" sz="800" spc="-64" dirty="0"/>
              <a:t>/10.4018/jdwm.2007070101</a:t>
            </a:r>
          </a:p>
          <a:p>
            <a:pPr algn="l"/>
            <a:r>
              <a:rPr lang="en-GB" sz="800" b="1" spc="-64" dirty="0"/>
              <a:t>Zhang, M.-L. and Zhou, Z.-H. (2014)</a:t>
            </a:r>
            <a:endParaRPr lang="en-GB" sz="800" spc="-64" dirty="0"/>
          </a:p>
          <a:p>
            <a:pPr algn="l"/>
            <a:r>
              <a:rPr lang="en-GB" sz="800" spc="-64" dirty="0"/>
              <a:t>A review on multi-label learning algorithms. </a:t>
            </a:r>
            <a:r>
              <a:rPr lang="en-GB" sz="800" i="1" spc="-64" dirty="0"/>
              <a:t>IEEE Transactions on Knowledge and Data Engineering</a:t>
            </a:r>
            <a:r>
              <a:rPr lang="en-GB" sz="800" spc="-64" dirty="0"/>
              <a:t>, 26(8), pp.1819–1837.</a:t>
            </a:r>
          </a:p>
          <a:p>
            <a:pPr algn="l"/>
            <a:r>
              <a:rPr lang="en-GB" sz="800" spc="-64" dirty="0"/>
              <a:t>https://</a:t>
            </a:r>
            <a:r>
              <a:rPr lang="en-GB" sz="800" spc="-64" dirty="0" err="1"/>
              <a:t>doi.org</a:t>
            </a:r>
            <a:r>
              <a:rPr lang="en-GB" sz="800" spc="-64" dirty="0"/>
              <a:t>/10.1109/TKDE.2013.39</a:t>
            </a:r>
          </a:p>
          <a:p>
            <a:pPr algn="l"/>
            <a:endParaRPr lang="en-GB" sz="1268" dirty="0"/>
          </a:p>
          <a:p>
            <a:pPr algn="l"/>
            <a:endParaRPr lang="en-GB" sz="1268" dirty="0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B411E9-4872-4190-BCE2-7FC82A022711}"/>
              </a:ext>
            </a:extLst>
          </p:cNvPr>
          <p:cNvCxnSpPr>
            <a:cxnSpLocks/>
          </p:cNvCxnSpPr>
          <p:nvPr/>
        </p:nvCxnSpPr>
        <p:spPr>
          <a:xfrm flipH="1">
            <a:off x="4217175" y="1145290"/>
            <a:ext cx="0" cy="82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094C917-028B-4D9F-9148-8DFC6520CD1F}"/>
              </a:ext>
            </a:extLst>
          </p:cNvPr>
          <p:cNvCxnSpPr>
            <a:cxnSpLocks/>
          </p:cNvCxnSpPr>
          <p:nvPr/>
        </p:nvCxnSpPr>
        <p:spPr>
          <a:xfrm>
            <a:off x="8641281" y="1138672"/>
            <a:ext cx="0" cy="8280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itle 1">
            <a:extLst>
              <a:ext uri="{FF2B5EF4-FFF2-40B4-BE49-F238E27FC236}">
                <a16:creationId xmlns:a16="http://schemas.microsoft.com/office/drawing/2014/main" id="{CC7AA43E-169E-4584-BD61-1564EB886BA4}"/>
              </a:ext>
            </a:extLst>
          </p:cNvPr>
          <p:cNvSpPr txBox="1">
            <a:spLocks/>
          </p:cNvSpPr>
          <p:nvPr/>
        </p:nvSpPr>
        <p:spPr>
          <a:xfrm>
            <a:off x="11077395" y="1231218"/>
            <a:ext cx="1670357" cy="316089"/>
          </a:xfrm>
          <a:prstGeom prst="rect">
            <a:avLst/>
          </a:prstGeom>
        </p:spPr>
        <p:txBody>
          <a:bodyPr vert="horz" lIns="38665" tIns="19332" rIns="38665" bIns="19332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GB" sz="1015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4D204FDE-6B7C-493E-B33F-71E6F2C28506}"/>
              </a:ext>
            </a:extLst>
          </p:cNvPr>
          <p:cNvSpPr txBox="1"/>
          <p:nvPr/>
        </p:nvSpPr>
        <p:spPr>
          <a:xfrm>
            <a:off x="4205445" y="7977462"/>
            <a:ext cx="633507" cy="27456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184" i="1" dirty="0"/>
              <a:t>Testing</a:t>
            </a:r>
          </a:p>
        </p:txBody>
      </p:sp>
      <p:sp>
        <p:nvSpPr>
          <p:cNvPr id="26" name="Title 1">
            <a:extLst>
              <a:ext uri="{FF2B5EF4-FFF2-40B4-BE49-F238E27FC236}">
                <a16:creationId xmlns:a16="http://schemas.microsoft.com/office/drawing/2014/main" id="{E7B24A34-D6DD-4B29-ACC3-A1E122AA648B}"/>
              </a:ext>
            </a:extLst>
          </p:cNvPr>
          <p:cNvSpPr txBox="1">
            <a:spLocks/>
          </p:cNvSpPr>
          <p:nvPr/>
        </p:nvSpPr>
        <p:spPr>
          <a:xfrm>
            <a:off x="4295530" y="8245206"/>
            <a:ext cx="4379821" cy="1320968"/>
          </a:xfrm>
          <a:prstGeom prst="rect">
            <a:avLst/>
          </a:prstGeom>
        </p:spPr>
        <p:txBody>
          <a:bodyPr vert="horz" lIns="38665" tIns="19332" rIns="38665" bIns="19332" numCol="1" spcCol="108000" rtlCol="0" anchor="t">
            <a:normAutofit/>
          </a:bodyPr>
          <a:lstStyle>
            <a:lvl1pPr algn="ctr" defTabSz="2138324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1403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00" dirty="0"/>
              <a:t>Multi-label metrics and per-label accuracy was utilised to evaluate the model’s performance.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00" dirty="0"/>
              <a:t>Results analysed to identify performance variation across predicted skin categories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00" dirty="0"/>
              <a:t>Label-level prediction behaviours assessed using confusion matrices. 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00" dirty="0"/>
              <a:t>Two classification models were evaluated; skin type and conditions.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00" dirty="0"/>
              <a:t>Formal fairness testing across skin types was not conducted and is identified as a limitation</a:t>
            </a:r>
          </a:p>
          <a:p>
            <a:pPr algn="l">
              <a:buFont typeface="Arial" panose="020B0604020202020204" pitchFamily="34" charset="0"/>
              <a:buChar char="•"/>
            </a:pPr>
            <a:endParaRPr lang="en-GB" sz="888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8FD0A7B-80E6-1C8F-354D-CD5DF6FFF8CB}"/>
              </a:ext>
            </a:extLst>
          </p:cNvPr>
          <p:cNvSpPr txBox="1"/>
          <p:nvPr/>
        </p:nvSpPr>
        <p:spPr>
          <a:xfrm>
            <a:off x="11959045" y="5917499"/>
            <a:ext cx="184731" cy="15081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 sz="38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C86C6E7-5E5C-AE44-5625-D047F76C6FB0}"/>
              </a:ext>
            </a:extLst>
          </p:cNvPr>
          <p:cNvSpPr txBox="1"/>
          <p:nvPr/>
        </p:nvSpPr>
        <p:spPr>
          <a:xfrm>
            <a:off x="183749" y="6857287"/>
            <a:ext cx="4053575" cy="14001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sz="1268" b="1" dirty="0">
                <a:cs typeface="Times New Roman" panose="02020603050405020304" pitchFamily="18" charset="0"/>
              </a:rPr>
              <a:t>Key requirements:</a:t>
            </a:r>
            <a:endParaRPr lang="en-GB" sz="1268" dirty="0">
              <a:cs typeface="Times New Roman" panose="02020603050405020304" pitchFamily="18" charset="0"/>
            </a:endParaRPr>
          </a:p>
          <a:p>
            <a:pPr algn="l"/>
            <a:r>
              <a:rPr lang="en-GB" sz="1050" i="1" dirty="0">
                <a:latin typeface="+mj-lt"/>
                <a:cs typeface="Times New Roman" panose="02020603050405020304" pitchFamily="18" charset="0"/>
              </a:rPr>
              <a:t>Functional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Accept a skin image as input.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50" dirty="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Allow multi-label classification to identify co-occurring conditions.</a:t>
            </a:r>
            <a:endParaRPr lang="en-GB" sz="1050" dirty="0">
              <a:latin typeface="+mj-lt"/>
              <a:cs typeface="Times New Roman" panose="02020603050405020304" pitchFamily="18" charset="0"/>
            </a:endParaRP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Provide visuals for explanation of the predictions.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Generate non-diagnostic skin analysis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Store and exhibit results for better interpretations.</a:t>
            </a:r>
          </a:p>
          <a:p>
            <a:endParaRPr lang="en-GB" sz="931" dirty="0"/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B9273CBB-3AB3-0702-D4FA-CB28655E6B7E}"/>
              </a:ext>
            </a:extLst>
          </p:cNvPr>
          <p:cNvSpPr txBox="1"/>
          <p:nvPr/>
        </p:nvSpPr>
        <p:spPr>
          <a:xfrm>
            <a:off x="7079231" y="5770075"/>
            <a:ext cx="1553563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0827" indent="-120827">
              <a:buFont typeface="Arial" panose="020B0604020202020204" pitchFamily="34" charset="0"/>
              <a:buChar char="•"/>
            </a:pPr>
            <a:r>
              <a:rPr lang="en-GB" sz="1000" dirty="0">
                <a:latin typeface="+mj-lt"/>
              </a:rPr>
              <a:t>AURAI is implemented as a React frontend and </a:t>
            </a:r>
            <a:r>
              <a:rPr lang="en-GB" sz="1000" dirty="0" err="1">
                <a:latin typeface="+mj-lt"/>
              </a:rPr>
              <a:t>FastAPI</a:t>
            </a:r>
            <a:r>
              <a:rPr lang="en-GB" sz="1000" dirty="0">
                <a:latin typeface="+mj-lt"/>
              </a:rPr>
              <a:t> backend.</a:t>
            </a:r>
          </a:p>
          <a:p>
            <a:pPr marL="120827" indent="-120827">
              <a:buFont typeface="Arial" panose="020B0604020202020204" pitchFamily="34" charset="0"/>
              <a:buChar char="•"/>
            </a:pPr>
            <a:r>
              <a:rPr lang="en-GB" sz="1000" dirty="0">
                <a:latin typeface="+mj-lt"/>
              </a:rPr>
              <a:t>Deep learning models (e.g. CNNs) are used for skin type and multi-label condition analysis.</a:t>
            </a:r>
          </a:p>
          <a:p>
            <a:pPr marL="120827" indent="-120827">
              <a:buFont typeface="Arial" panose="020B0604020202020204" pitchFamily="34" charset="0"/>
              <a:buChar char="•"/>
            </a:pPr>
            <a:r>
              <a:rPr lang="en-GB" sz="1000" dirty="0" err="1">
                <a:latin typeface="+mj-lt"/>
              </a:rPr>
              <a:t>Explainability</a:t>
            </a:r>
            <a:r>
              <a:rPr lang="en-GB" sz="1000" dirty="0">
                <a:latin typeface="+mj-lt"/>
              </a:rPr>
              <a:t> and personalised recommendation modules are integrated into the inference pipeline.</a:t>
            </a:r>
          </a:p>
        </p:txBody>
      </p:sp>
      <p:pic>
        <p:nvPicPr>
          <p:cNvPr id="40" name="Picture 39" descr="A screenshot of a chat&#10;&#10;Description automatically generated">
            <a:extLst>
              <a:ext uri="{FF2B5EF4-FFF2-40B4-BE49-F238E27FC236}">
                <a16:creationId xmlns:a16="http://schemas.microsoft.com/office/drawing/2014/main" id="{0703409D-6565-2283-AF4F-87DE3B00F8B1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33"/>
          <a:stretch/>
        </p:blipFill>
        <p:spPr>
          <a:xfrm>
            <a:off x="8673881" y="3696220"/>
            <a:ext cx="4073860" cy="2316892"/>
          </a:xfrm>
          <a:prstGeom prst="rect">
            <a:avLst/>
          </a:prstGeom>
        </p:spPr>
      </p:pic>
      <p:pic>
        <p:nvPicPr>
          <p:cNvPr id="42" name="Picture 41" descr="A screenshot of a computer&#10;&#10;Description automatically generated">
            <a:extLst>
              <a:ext uri="{FF2B5EF4-FFF2-40B4-BE49-F238E27FC236}">
                <a16:creationId xmlns:a16="http://schemas.microsoft.com/office/drawing/2014/main" id="{E13E2B46-F0EF-AEBF-BB91-FB6F018B63D7}"/>
              </a:ext>
            </a:extLst>
          </p:cNvPr>
          <p:cNvPicPr>
            <a:picLocks noChangeAspect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433"/>
          <a:stretch/>
        </p:blipFill>
        <p:spPr>
          <a:xfrm>
            <a:off x="8670609" y="1367019"/>
            <a:ext cx="4032249" cy="2293227"/>
          </a:xfrm>
          <a:prstGeom prst="rect">
            <a:avLst/>
          </a:prstGeom>
        </p:spPr>
      </p:pic>
      <p:sp>
        <p:nvSpPr>
          <p:cNvPr id="53" name="TextBox 52">
            <a:extLst>
              <a:ext uri="{FF2B5EF4-FFF2-40B4-BE49-F238E27FC236}">
                <a16:creationId xmlns:a16="http://schemas.microsoft.com/office/drawing/2014/main" id="{66FD992B-7F0A-E528-B5C1-F3819162226D}"/>
              </a:ext>
            </a:extLst>
          </p:cNvPr>
          <p:cNvSpPr txBox="1"/>
          <p:nvPr/>
        </p:nvSpPr>
        <p:spPr>
          <a:xfrm>
            <a:off x="173734" y="5272906"/>
            <a:ext cx="4058170" cy="18294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40" dirty="0">
                <a:latin typeface="+mj-lt"/>
              </a:rPr>
              <a:t>CNNs can achieve dermatologist-level performance in controlled binary skin lesion classification tasks. </a:t>
            </a:r>
            <a:r>
              <a:rPr lang="en-GB" sz="1040" i="1" dirty="0">
                <a:latin typeface="+mj-lt"/>
              </a:rPr>
              <a:t>(</a:t>
            </a:r>
            <a:r>
              <a:rPr lang="en-GB" sz="1040" i="1" dirty="0" err="1">
                <a:latin typeface="+mj-lt"/>
              </a:rPr>
              <a:t>Esteva</a:t>
            </a:r>
            <a:r>
              <a:rPr lang="en-GB" sz="1040" i="1" dirty="0">
                <a:latin typeface="+mj-lt"/>
              </a:rPr>
              <a:t> et al., 2017; Brinker et al., 2019)</a:t>
            </a:r>
            <a:endParaRPr lang="en-GB" sz="1040" dirty="0">
              <a:latin typeface="+mj-lt"/>
            </a:endParaRP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40" dirty="0">
                <a:latin typeface="+mj-lt"/>
              </a:rPr>
              <a:t>Dermatological images frequently contain multiple simultaneous skin features, making single-label models unsuitable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40" dirty="0">
                <a:latin typeface="+mj-lt"/>
              </a:rPr>
              <a:t>Multi-label learning enables the modelling of non-exclusive conditions such as acne, redness, and hyperpigmentation.</a:t>
            </a:r>
            <a:r>
              <a:rPr lang="en-GB" sz="1040" i="1" dirty="0">
                <a:latin typeface="+mj-lt"/>
              </a:rPr>
              <a:t>(</a:t>
            </a:r>
            <a:r>
              <a:rPr lang="en-GB" sz="1040" i="1" dirty="0" err="1">
                <a:latin typeface="+mj-lt"/>
              </a:rPr>
              <a:t>Tsoumakas</a:t>
            </a:r>
            <a:r>
              <a:rPr lang="en-GB" sz="1040" i="1" dirty="0">
                <a:latin typeface="+mj-lt"/>
              </a:rPr>
              <a:t> &amp; </a:t>
            </a:r>
            <a:r>
              <a:rPr lang="en-GB" sz="1040" i="1" dirty="0" err="1">
                <a:latin typeface="+mj-lt"/>
              </a:rPr>
              <a:t>Katakis</a:t>
            </a:r>
            <a:r>
              <a:rPr lang="en-GB" sz="1040" i="1" dirty="0">
                <a:latin typeface="+mj-lt"/>
              </a:rPr>
              <a:t>, 2007; Zhang &amp; Zhou, 2014)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r>
              <a:rPr lang="en-GB" sz="1040" dirty="0">
                <a:latin typeface="+mj-lt"/>
              </a:rPr>
              <a:t>Dataset bias and limited interpretability highlight the need for assistive rather than autonomous AI systems.</a:t>
            </a:r>
          </a:p>
          <a:p>
            <a:pPr marL="144992" indent="-144992">
              <a:buFont typeface="Arial" panose="020B0604020202020204" pitchFamily="34" charset="0"/>
              <a:buChar char="•"/>
            </a:pPr>
            <a:endParaRPr lang="en-GB" sz="888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BB5B1C50-BF2A-E64A-19DE-B1109AD4CC13}"/>
              </a:ext>
            </a:extLst>
          </p:cNvPr>
          <p:cNvSpPr txBox="1"/>
          <p:nvPr/>
        </p:nvSpPr>
        <p:spPr>
          <a:xfrm>
            <a:off x="183749" y="7900803"/>
            <a:ext cx="4048238" cy="19759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endParaRPr lang="en-GB" sz="1020" dirty="0">
              <a:latin typeface="+mj-lt"/>
              <a:cs typeface="Times New Roman" panose="02020603050405020304" pitchFamily="18" charset="0"/>
            </a:endParaRPr>
          </a:p>
          <a:p>
            <a:pPr algn="l"/>
            <a:r>
              <a:rPr lang="en-GB" sz="1050" i="1" dirty="0">
                <a:latin typeface="+mj-lt"/>
                <a:cs typeface="Times New Roman" panose="02020603050405020304" pitchFamily="18" charset="0"/>
              </a:rPr>
              <a:t>Non-functional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This system will not diagnose and it is free from any medical claims or decisions.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The system will take the fairness and bias constraints into account based on dataset composition.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The UI should be intuitive and accessible to non-expert users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r>
              <a:rPr lang="en-GB" sz="1050" dirty="0">
                <a:latin typeface="+mj-lt"/>
                <a:cs typeface="Times New Roman" panose="02020603050405020304" pitchFamily="18" charset="0"/>
              </a:rPr>
              <a:t>The system shall prioritise transparency and ethical deployment in consumer-facing contexts.</a:t>
            </a:r>
          </a:p>
          <a:p>
            <a:pPr marL="144992" indent="-144992" algn="l">
              <a:buFont typeface="Arial" panose="020B0604020202020204" pitchFamily="34" charset="0"/>
              <a:buChar char="•"/>
            </a:pPr>
            <a:endParaRPr lang="en-GB" sz="1020" dirty="0">
              <a:latin typeface="+mj-lt"/>
              <a:cs typeface="Times New Roman" panose="02020603050405020304" pitchFamily="18" charset="0"/>
            </a:endParaRPr>
          </a:p>
          <a:p>
            <a:endParaRPr lang="en-GB" dirty="0"/>
          </a:p>
        </p:txBody>
      </p:sp>
      <p:pic>
        <p:nvPicPr>
          <p:cNvPr id="4" name="Picture 3" descr="A qr code with black squares&#10;&#10;Description automatically generated">
            <a:extLst>
              <a:ext uri="{FF2B5EF4-FFF2-40B4-BE49-F238E27FC236}">
                <a16:creationId xmlns:a16="http://schemas.microsoft.com/office/drawing/2014/main" id="{AECB497E-86FA-3220-10F0-502D3D89E822}"/>
              </a:ext>
            </a:extLst>
          </p:cNvPr>
          <p:cNvPicPr>
            <a:picLocks noChangeAspect="1"/>
          </p:cNvPicPr>
          <p:nvPr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231" t="7597" r="8150" b="8150"/>
          <a:stretch/>
        </p:blipFill>
        <p:spPr>
          <a:xfrm>
            <a:off x="11436381" y="8241"/>
            <a:ext cx="1230057" cy="1239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76761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2857</TotalTime>
  <Words>798</Words>
  <Application>Microsoft Macintosh PowerPoint</Application>
  <PresentationFormat>A3 Paper (297x420 mm)</PresentationFormat>
  <Paragraphs>65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Times New Roman</vt:lpstr>
      <vt:lpstr>Office 2013 - 2022 Theme</vt:lpstr>
      <vt:lpstr>Research:  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Research:  A short summary of your research providing key related works;  Be critical. Use appropriate citation. </dc:title>
  <dc:creator>Theo Spyridopoulos</dc:creator>
  <cp:lastModifiedBy>Kayra Sik (Student)</cp:lastModifiedBy>
  <cp:revision>12</cp:revision>
  <cp:lastPrinted>2026-01-27T13:04:33Z</cp:lastPrinted>
  <dcterms:created xsi:type="dcterms:W3CDTF">2017-09-14T11:34:59Z</dcterms:created>
  <dcterms:modified xsi:type="dcterms:W3CDTF">2026-01-27T13:05:10Z</dcterms:modified>
</cp:coreProperties>
</file>